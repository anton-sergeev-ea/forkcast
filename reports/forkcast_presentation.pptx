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ДВС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Sheet1!$A$2:$A$14</c:f>
              <c:strCache>
                <c:ptCount val="13"/>
                <c:pt idx="0">
                  <c:v>1кв23</c:v>
                </c:pt>
                <c:pt idx="1">
                  <c:v>2кв23</c:v>
                </c:pt>
                <c:pt idx="2">
                  <c:v>3кв23</c:v>
                </c:pt>
                <c:pt idx="3">
                  <c:v>4кв23</c:v>
                </c:pt>
                <c:pt idx="4">
                  <c:v>1кв24</c:v>
                </c:pt>
                <c:pt idx="5">
                  <c:v>2кв24</c:v>
                </c:pt>
                <c:pt idx="6">
                  <c:v>3кв24</c:v>
                </c:pt>
                <c:pt idx="7">
                  <c:v>4кв24</c:v>
                </c:pt>
                <c:pt idx="8">
                  <c:v>1кв25</c:v>
                </c:pt>
                <c:pt idx="9">
                  <c:v>2кв25</c:v>
                </c:pt>
                <c:pt idx="10">
                  <c:v>3кв25</c:v>
                </c:pt>
                <c:pt idx="11">
                  <c:v>4кв25</c:v>
                </c:pt>
                <c:pt idx="12">
                  <c:v>1кв26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13340.0</c:v>
                </c:pt>
                <c:pt idx="1">
                  <c:v>11950.0</c:v>
                </c:pt>
                <c:pt idx="2">
                  <c:v>13760.0</c:v>
                </c:pt>
                <c:pt idx="3">
                  <c:v>15690.0</c:v>
                </c:pt>
                <c:pt idx="4">
                  <c:v>7240.0</c:v>
                </c:pt>
                <c:pt idx="5">
                  <c:v>13180.0</c:v>
                </c:pt>
                <c:pt idx="6">
                  <c:v>11700.0</c:v>
                </c:pt>
                <c:pt idx="7">
                  <c:v>15240.0</c:v>
                </c:pt>
                <c:pt idx="8">
                  <c:v>7940.0</c:v>
                </c:pt>
                <c:pt idx="9">
                  <c:v>5240.0</c:v>
                </c:pt>
                <c:pt idx="10">
                  <c:v>5760.0</c:v>
                </c:pt>
                <c:pt idx="11">
                  <c:v>5790.0</c:v>
                </c:pt>
                <c:pt idx="12">
                  <c:v>4820.0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Электро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Sheet1!$A$2:$A$14</c:f>
              <c:strCache>
                <c:ptCount val="13"/>
                <c:pt idx="0">
                  <c:v>1кв23</c:v>
                </c:pt>
                <c:pt idx="1">
                  <c:v>2кв23</c:v>
                </c:pt>
                <c:pt idx="2">
                  <c:v>3кв23</c:v>
                </c:pt>
                <c:pt idx="3">
                  <c:v>4кв23</c:v>
                </c:pt>
                <c:pt idx="4">
                  <c:v>1кв24</c:v>
                </c:pt>
                <c:pt idx="5">
                  <c:v>2кв24</c:v>
                </c:pt>
                <c:pt idx="6">
                  <c:v>3кв24</c:v>
                </c:pt>
                <c:pt idx="7">
                  <c:v>4кв24</c:v>
                </c:pt>
                <c:pt idx="8">
                  <c:v>1кв25</c:v>
                </c:pt>
                <c:pt idx="9">
                  <c:v>2кв25</c:v>
                </c:pt>
                <c:pt idx="10">
                  <c:v>3кв25</c:v>
                </c:pt>
                <c:pt idx="11">
                  <c:v>4кв25</c:v>
                </c:pt>
                <c:pt idx="12">
                  <c:v>1кв26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9870.0</c:v>
                </c:pt>
                <c:pt idx="1">
                  <c:v>17560.0</c:v>
                </c:pt>
                <c:pt idx="2">
                  <c:v>19400.0</c:v>
                </c:pt>
                <c:pt idx="3">
                  <c:v>16630.0</c:v>
                </c:pt>
                <c:pt idx="4">
                  <c:v>14140.0</c:v>
                </c:pt>
                <c:pt idx="5">
                  <c:v>20460.0</c:v>
                </c:pt>
                <c:pt idx="6">
                  <c:v>12920.0</c:v>
                </c:pt>
                <c:pt idx="7">
                  <c:v>19670.0</c:v>
                </c:pt>
                <c:pt idx="8">
                  <c:v>14170.0</c:v>
                </c:pt>
                <c:pt idx="9">
                  <c:v>14480.0</c:v>
                </c:pt>
                <c:pt idx="10">
                  <c:v>13650.0</c:v>
                </c:pt>
                <c:pt idx="11">
                  <c:v>15450.0</c:v>
                </c:pt>
                <c:pt idx="12">
                  <c:v>10800.0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5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2514E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 квартала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Консенсус аналитиков</c:v>
                </c:pt>
                <c:pt idx="1">
                  <c:v>Банк России, базовый</c:v>
                </c:pt>
                <c:pt idx="2">
                  <c:v>Минэкономразвития, базовый</c:v>
                </c:pt>
                <c:pt idx="3">
                  <c:v>Стресс</c:v>
                </c:pt>
                <c:pt idx="4">
                  <c:v>Оптимистичный</c:v>
                </c:pt>
                <c:pt idx="5">
                  <c:v>Взвешенный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81970.72480572911</c:v>
                </c:pt>
                <c:pt idx="1">
                  <c:v>82691.79887494033</c:v>
                </c:pt>
                <c:pt idx="2">
                  <c:v>85403.95691162143</c:v>
                </c:pt>
                <c:pt idx="3">
                  <c:v>79748.89095089414</c:v>
                </c:pt>
                <c:pt idx="4">
                  <c:v>84114.5493443461</c:v>
                </c:pt>
                <c:pt idx="5">
                  <c:v>81952.54284317588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 кварталов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Sheet1!$A$2:$A$7</c:f>
              <c:strCache>
                <c:ptCount val="6"/>
                <c:pt idx="0">
                  <c:v>Консенсус аналитиков</c:v>
                </c:pt>
                <c:pt idx="1">
                  <c:v>Банк России, базовый</c:v>
                </c:pt>
                <c:pt idx="2">
                  <c:v>Минэкономразвития, базовый</c:v>
                </c:pt>
                <c:pt idx="3">
                  <c:v>Стресс</c:v>
                </c:pt>
                <c:pt idx="4">
                  <c:v>Оптимистичный</c:v>
                </c:pt>
                <c:pt idx="5">
                  <c:v>Взвешенный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169507.2237612992</c:v>
                </c:pt>
                <c:pt idx="1">
                  <c:v>172829.60225582332</c:v>
                </c:pt>
                <c:pt idx="2">
                  <c:v>178863.56396582752</c:v>
                </c:pt>
                <c:pt idx="3">
                  <c:v>160676.74296592516</c:v>
                </c:pt>
                <c:pt idx="4">
                  <c:v>180116.7653771765</c:v>
                </c:pt>
                <c:pt idx="5">
                  <c:v>169731.17877601308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6E5E1"/>
              </a:solidFill>
            </a:ln>
          </c:spPr>
        </c:majorGridlines>
        <c:numFmt formatCode="# 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формализованная модель прогноза рынка по сегментам для производственного и продуктового планирования.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Байесовская иерархическая модель: априорные распределения стабилизируют оценки на 13 точках; апостериорные выборки дают неопределённость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B7D3F6"/>
                </a:solidFill>
                <a:latin typeface="Calibri"/>
              </a:rPr>
              <a:t>FORKCAST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Рынок вилочных погрузчиков РФ: анализ сегментов и сценарный 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Данные 2023Q1–2026Q1 · прогноз до 2028Q1 · для ЧЗСА (бренд СИЛАНТ)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DDE8F7"/>
                </a:solidFill>
                <a:latin typeface="Calibri"/>
              </a:rPr>
              <a:t>Сергеев Антон Валентинович</a:t>
            </a:r>
          </a:p>
          <a:p>
            <a:pPr algn="l"/>
            <a:r>
              <a:rPr sz="1400" b="0">
                <a:solidFill>
                  <a:srgbClr val="DDE8F7"/>
                </a:solidFill>
                <a:latin typeface="Calibri"/>
              </a:rPr>
              <a:t>avsergeev1981@gmail.com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Главное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Рынок сжался и стабилизируется; восстановление зависит от ставки; электрификация продолжается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C5CAB"/>
                </a:solidFill>
                <a:latin typeface="Calibri"/>
              </a:rPr>
              <a:t>82 480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рынок 2025 г., шт. (−28% к 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C5CAB"/>
                </a:solidFill>
                <a:latin typeface="Calibri"/>
              </a:rPr>
              <a:t>81 953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прогноз на 4 кв. (2026Q2–2027Q1), P10–P90: 73 175–92 688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C5CAB"/>
                </a:solidFill>
                <a:latin typeface="Calibri"/>
              </a:rP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доля электро к 2028Q1 (сейчас 69%)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697480" cy="173736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C5CAB"/>
                </a:solidFill>
                <a:latin typeface="Calibri"/>
              </a:rPr>
              <a:t>−2,1%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изменение продаж на +1 п.п. ключевой ставки (лаг 1–3 кв.)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Падение 2025 г. (−30,9 лог-п.): ставка −11,4, структурный сдвиг 2025Q2 −16,0, инвестиции −1,1.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ДВС −48%, электро −14% в 2025 г. — ДВС сокращается быстрее рынка, доля электро 70%.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Сценарии почти не расходятся на 4 кв. (79 749–85 404), но расходятся на 8 кв. (160 677–180 117).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Модель точнее эталонов в бэктесте: MASE 0,49 против 1,41 у сезонного наивного прогноза.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Рынок −28% в 2025 г., ДВС −48%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Продажи по кварталам, шт.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14630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2025 г.: 82 480 шт. (−28%).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ДВС −48%, электро −14%.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2026Q1: 15 620 шт. (−29% г/г) — минимум ряда.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Доля электро: 54% (2023) → 70% (2025).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Сезонность значима: 4 кв. +16%, 1 кв. −21% к среднегодовому.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Растут только электро 3–3,5 т и 3,8–5 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Что двигает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Вклад факторов в изменение рынка и оценённые эластичности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06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5691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4630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C5CAB"/>
                </a:solidFill>
                <a:latin typeface="Calibri"/>
              </a:rPr>
              <a:t>Ключевая ставка. </a:t>
            </a:r>
            <a:r>
              <a:rPr sz="1400">
                <a:solidFill>
                  <a:srgbClr val="0B0B0B"/>
                </a:solidFill>
                <a:latin typeface="Calibri"/>
              </a:rPr>
              <a:t>−2,1% продаж на +1 п.п.; лаг 1–3 квартала (кредит, лизинг).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C5CAB"/>
                </a:solidFill>
                <a:latin typeface="Calibri"/>
              </a:rPr>
              <a:t>Инвестиции в ОК. </a:t>
            </a:r>
            <a:r>
              <a:rPr sz="1400">
                <a:solidFill>
                  <a:srgbClr val="0B0B0B"/>
                </a:solidFill>
                <a:latin typeface="Calibri"/>
              </a:rPr>
              <a:t>эластичность 0,98: спрос на технику — «усиленная» производная капвложений.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C5CAB"/>
                </a:solidFill>
                <a:latin typeface="Calibri"/>
              </a:rPr>
              <a:t>Структурный сдвиг 2025Q2. </a:t>
            </a:r>
            <a:r>
              <a:rPr sz="1400">
                <a:solidFill>
                  <a:srgbClr val="0B0B0B"/>
                </a:solidFill>
                <a:latin typeface="Calibri"/>
              </a:rPr>
              <a:t>−19% к уровню: конец цикла замещения парка, утильсбор, неценовые условия кредитования.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C5CAB"/>
                </a:solidFill>
                <a:latin typeface="Calibri"/>
              </a:rPr>
              <a:t>Отклонены. </a:t>
            </a:r>
            <a:r>
              <a:rPr sz="1400">
                <a:solidFill>
                  <a:srgbClr val="0B0B0B"/>
                </a:solidFill>
                <a:latin typeface="Calibri"/>
              </a:rPr>
              <a:t>курс USD/RUB и ВВП — не улучшают точность вне выборки (LOO).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Методика: иерархическая байесовская факторная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Прогнозы согласованы: сегменты → блоки →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926080" cy="777240"/>
          </a:xfrm>
          <a:prstGeom prst="round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743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C5CAB"/>
                </a:solidFill>
                <a:latin typeface="Calibri"/>
              </a:rPr>
              <a:t>Внешние факторы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45720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Ставка ЦБ (лаг 1–3), инвестиции в ОК, режим 2025Q2 · 5 сценариев (ЦБ, Минэк, консенсус, стресс, оптимистичный)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2926080" cy="777240"/>
          </a:xfrm>
          <a:prstGeom prst="round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743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Рынок в целом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45720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log-уровень продаж = сезонность + факторы; байесовская регрессия, сэмплер Гиббса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926080" cy="777240"/>
          </a:xfrm>
          <a:prstGeom prst="round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2743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Доля электро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45720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S-кривая с насыщением (потолок 85%) + циклическая реакция на ставку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43400"/>
            <a:ext cx="2926080" cy="777240"/>
          </a:xfrm>
          <a:prstGeom prst="round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2743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C5CAB"/>
                </a:solidFill>
                <a:latin typeface="Calibri"/>
              </a:rPr>
              <a:t>14 сегментов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43400"/>
            <a:ext cx="45720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композиционная модель структуры внутри ДВС и электро; сумма = блок = рынок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2926080" cy="777240"/>
          </a:xfrm>
          <a:prstGeom prst="round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2743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C5CAB"/>
                </a:solidFill>
                <a:latin typeface="Calibri"/>
              </a:rPr>
              <a:t>План СИЛАНТ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303520"/>
            <a:ext cx="45720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коридор P10–P90 и объём выпуска по правилу newsvendor для сегментов 1–5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4630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Неопределённость: параметры + шум + путь факторов + выбор сценария; 4000 симуляций на сценарий.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Наукаст: уже известные ставка и инвестиции заменяют сценарные значения.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Бэктест (rolling origin): MASE 0,49, попадание в 80%-интервал 100%.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Отбор факторов — по кросс-валидации LOO, а не по подгонке.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Прогноз рынка: 81 953 шт. за 4 квартала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Взвешенный сценарий; 80%-интервал 73 175–92 688; на 8 кв. — 169 731 шт.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07_fan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06695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Сценарии расходятся во втором году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Рынок за 4 и 8 кварталов по сценариям, медиана, шт.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37160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C5CAB"/>
                </a:solidFill>
                <a:latin typeface="Calibri"/>
              </a:rPr>
              <a:t>Консенсус аналитиков (35%). </a:t>
            </a:r>
            <a:r>
              <a:rPr sz="1200">
                <a:solidFill>
                  <a:srgbClr val="0B0B0B"/>
                </a:solidFill>
                <a:latin typeface="Calibri"/>
              </a:rPr>
              <a:t>ставка 13.4% в 4кв26 → 11.7% в 4кв27; инвестиции 2027 ≈ +1.1% г/г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C5CAB"/>
                </a:solidFill>
                <a:latin typeface="Calibri"/>
              </a:rPr>
              <a:t>Банк России, базовый (25%). </a:t>
            </a:r>
            <a:r>
              <a:rPr sz="1200">
                <a:solidFill>
                  <a:srgbClr val="0B0B0B"/>
                </a:solidFill>
                <a:latin typeface="Calibri"/>
              </a:rPr>
              <a:t>ставка 13.6% в 4кв26 → 10.4% в 4кв27; инвестиции 2027 ≈ +2.0% г/г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C5CAB"/>
                </a:solidFill>
                <a:latin typeface="Calibri"/>
              </a:rPr>
              <a:t>Минэкономразвития, базовый (10%). </a:t>
            </a:r>
            <a:r>
              <a:rPr sz="1200">
                <a:solidFill>
                  <a:srgbClr val="0B0B0B"/>
                </a:solidFill>
                <a:latin typeface="Calibri"/>
              </a:rPr>
              <a:t>ставка 13.5% в 4кв26 → 9.8% в 4кв27; инвестиции 2027 ≈ +2.0% г/г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C5CAB"/>
                </a:solidFill>
                <a:latin typeface="Calibri"/>
              </a:rPr>
              <a:t>Стресс: жёсткая ДКП и затяжной инвестиционный спад (20%). </a:t>
            </a:r>
            <a:r>
              <a:rPr sz="1200">
                <a:solidFill>
                  <a:srgbClr val="0B0B0B"/>
                </a:solidFill>
                <a:latin typeface="Calibri"/>
              </a:rPr>
              <a:t>ставка 14.0% в 4кв26 → 13.0% в 4кв27; инвестиции 2027 ≈ -2.5% г/г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C5CAB"/>
                </a:solidFill>
                <a:latin typeface="Calibri"/>
              </a:rPr>
              <a:t>Оптимистичный: быстрое смягчение ДКП (10%). </a:t>
            </a:r>
            <a:r>
              <a:rPr sz="1200">
                <a:solidFill>
                  <a:srgbClr val="0B0B0B"/>
                </a:solidFill>
                <a:latin typeface="Calibri"/>
              </a:rPr>
              <a:t>ставка 13.0% в 4кв26 → 8.5% в 4кв27; инвестиции 2027 ≈ +4.8% г/г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Доля электропогрузчиков: 79% к 2028Q1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S-кривая замещения; 80%-интервал 73%–82%; слабо зависит от сценария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08_fan_electric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5706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Сегменты линейки СИЛАНТ (1–5 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Медиана и 80%-интервал; коридор плана — в Excel (лист «План_СИЛАНТ»)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11_silan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4806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Неопределённость оценена и проверена на истории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Бэктест с точками отсечения 2024Q4–2025Q4; сравнение с эталонными моделями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13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80960" cy="3016824"/>
          </a:xfrm>
          <a:prstGeom prst="rect">
            <a:avLst/>
          </a:prstGeom>
        </p:spPr>
      </p:pic>
      <p:pic>
        <p:nvPicPr>
          <p:cNvPr id="8" name="Picture 7" descr="12_uncertainty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463040"/>
            <a:ext cx="3749039" cy="1633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3657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• MASE 0,49 vs 1,41 (SNaive).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• Факт внутри 80%-интервала: 100%.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• Ближний горизонт — шум рынка; дальний — неопределённость факторов → сценарии.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«Лестница ставок»: при какой ставке рынок вернётся к росту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Рынок 2027 г. при постоянной ключевой ставке; уровень 2025 г. — при ставке ≤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pic>
        <p:nvPicPr>
          <p:cNvPr id="7" name="Picture 6" descr="14_key_rat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3471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Ставка действует с лагом 1–3 квартала: решения ЦБ 2026 г. определяют рынок первой половины 2027 г.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Триггер пересмотра плана: отклонение ставки от сценария более чем на 1 п.п.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• Следующее заседание ЦБ — 23.10.2026.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Рекомендации для производственного и продуктового плана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План производства на 4 квартала. </a:t>
            </a:r>
            <a:r>
              <a:rPr sz="1300">
                <a:solidFill>
                  <a:srgbClr val="0B0B0B"/>
                </a:solidFill>
                <a:latin typeface="Calibri"/>
              </a:rPr>
              <a:t>Базировать план на медиане взвешенного прогноза рынка: 81 953 шт. за 2026Q2–2027Q1 (−1% к 2025 г.), держать «коридор» мощностей P10–P90: 73 175–92 688 шт. Объём выпуска по сегментам — по правилу newsvendor (квантиль 71%), см. лист «План_СИЛАНТ_4кв».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Продуктовый микс: приоритет электро. </a:t>
            </a:r>
            <a:r>
              <a:rPr sz="1300">
                <a:solidFill>
                  <a:srgbClr val="0B0B0B"/>
                </a:solidFill>
                <a:latin typeface="Calibri"/>
              </a:rPr>
              <a:t>Доля электропогрузчиков выросла с 54% (2023) до 70% (2025) и, по прогнозу, достигнет 79% к 2028Q1 (80%-интервал 73%–82%). Устойчиво растущие сегменты: электро 3–3,5 т, электро 3,8–5 т. Их стоит ставить в приоритет модельного ряда и локализации.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ДВС: гибкость вместо расширения. </a:t>
            </a:r>
            <a:r>
              <a:rPr sz="1300">
                <a:solidFill>
                  <a:srgbClr val="0B0B0B"/>
                </a:solidFill>
                <a:latin typeface="Calibri"/>
              </a:rPr>
              <a:t>Сегмент ДВС сократился на 48% в 2025 г. и восстанавливается медленнее рынка (прогноз 20 790 шт. за 4 кв.). Рекомендуется сборка под заказ, унификация платформ 1,5–3,5 т и минимальный страховой запас; расширение мощностей ДВС — только при переходе рынка к оптимистичному сценарию.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Сезонное выравнивание загрузки. </a:t>
            </a:r>
            <a:r>
              <a:rPr sz="1300">
                <a:solidFill>
                  <a:srgbClr val="0B0B0B"/>
                </a:solidFill>
                <a:latin typeface="Calibri"/>
              </a:rPr>
              <a:t>Сезонность значима: 4 квартал +16% к среднегодовому уровню, 1 квартал −21%. Выпуск в 3 квартале стоит наращивать под пик 4 квартала, а в 1 квартале смещать ресурсы на сервис, ремонт и подготовку новых моделей.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Триггеры пересмотра плана. </a:t>
            </a:r>
            <a:r>
              <a:rPr sz="1300">
                <a:solidFill>
                  <a:srgbClr val="0B0B0B"/>
                </a:solidFill>
                <a:latin typeface="Calibri"/>
              </a:rPr>
              <a:t>Главный рычаг — ключевая ставка (эластичность −2,1% продаж на 1 п.п. с лагом 1–3 кв.). Рынок 2027 г. возвращается к уровню 2025 г. при ставке не выше 15%. Решения ЦБ (следующее — 23.10.2026) и квартальные данные Росстата по инвестициям — сигналы для пересчёта.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Регламент обновления. </a:t>
            </a:r>
            <a:r>
              <a:rPr sz="1300">
                <a:solidFill>
                  <a:srgbClr val="0B0B0B"/>
                </a:solidFill>
                <a:latin typeface="Calibri"/>
              </a:rPr>
              <a:t>Ежеквартально: загрузить новый файл рынка командой `forkcast update`, при необходимости обновить config/scenarios.yaml по свежему макроопросу ЦБ; система пересчитает прогноз, сохранит винтаж и покажет точность прошлых прогнозов (PIT, попадание в интервалы).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Ограничения и развитие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949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Короткая история. </a:t>
            </a:r>
            <a:r>
              <a:rPr sz="1300">
                <a:solidFill>
                  <a:srgbClr val="0B0B0B"/>
                </a:solidFill>
                <a:latin typeface="Calibri"/>
              </a:rPr>
              <a:t>13 кварталов: оценки стабилизированы априорными распределениями, интервалы намеренно широкие.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Нет цен, брендов, регионов. </a:t>
            </a:r>
            <a:r>
              <a:rPr sz="1300">
                <a:solidFill>
                  <a:srgbClr val="0B0B0B"/>
                </a:solidFill>
                <a:latin typeface="Calibri"/>
              </a:rPr>
              <a:t>нельзя оценить ценовую эластичность и конкуренцию; доля СИЛАНТ задаётся экспертно.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8 сегментов ДВС вместо 9. </a:t>
            </a:r>
            <a:r>
              <a:rPr sz="1300">
                <a:solidFill>
                  <a:srgbClr val="0B0B0B"/>
                </a:solidFill>
                <a:latin typeface="Calibri"/>
              </a:rPr>
              <a:t>в файле нет девятого сегмента из описания кейса; прогноз — по фактической структуре.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Округление до 10 шт.. </a:t>
            </a:r>
            <a:r>
              <a:rPr sz="1300">
                <a:solidFill>
                  <a:srgbClr val="0B0B0B"/>
                </a:solidFill>
                <a:latin typeface="Calibri"/>
              </a:rPr>
              <a:t>малые сегменты (6–25 т) шумные; прогнозируются через структуру блока.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Структурный сдвиг 2025Q2. </a:t>
            </a:r>
            <a:r>
              <a:rPr sz="1300">
                <a:solidFill>
                  <a:srgbClr val="0B0B0B"/>
                </a:solidFill>
                <a:latin typeface="Calibri"/>
              </a:rPr>
              <a:t>причины (конец цикла замещения, утильсбор, кредитование) разделить нельзя.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Условный бэктест. </a:t>
            </a:r>
            <a:r>
              <a:rPr sz="1300">
                <a:solidFill>
                  <a:srgbClr val="0B0B0B"/>
                </a:solidFill>
                <a:latin typeface="Calibri"/>
              </a:rPr>
              <a:t>факторы в проверке — фактические; неопределённость будущих факторов — через сценарии.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09728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Данные. </a:t>
            </a:r>
            <a:r>
              <a:rPr sz="1300">
                <a:solidFill>
                  <a:srgbClr val="0B0B0B"/>
                </a:solidFill>
                <a:latin typeface="Calibri"/>
              </a:rPr>
              <a:t>подключить ввод складов, лизинг спецтехники, импорт погрузчиков (таможня КНР), цены.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Модель. </a:t>
            </a:r>
            <a:r>
              <a:rPr sz="1300">
                <a:solidFill>
                  <a:srgbClr val="0B0B0B"/>
                </a:solidFill>
                <a:latin typeface="Calibri"/>
              </a:rPr>
              <a:t>доля СИЛАНТ по сегментам из CRM → план продаж, а не только рынка.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5CAB"/>
                </a:solidFill>
                <a:latin typeface="Calibri"/>
              </a:rPr>
              <a:t>Процесс. </a:t>
            </a:r>
            <a:r>
              <a:rPr sz="1300">
                <a:solidFill>
                  <a:srgbClr val="0B0B0B"/>
                </a:solidFill>
                <a:latin typeface="Calibri"/>
              </a:rPr>
              <a:t>ежеквартальный пересчёт, мониторинг PIT, пересмотр весов сценариев.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Инструмент: пересчёт одной командой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Воспроизводимый код, тесты, архив прогнозов и мониторинг точности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8A8985"/>
                </a:solidFill>
                <a:latin typeface="Calibri"/>
              </a:rPr>
              <a:t>Forkcast · рынок вилочных погрузчиков РФ · ЧЗСА / СИЛАНТ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685800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1C5CAB"/>
                </a:solidFill>
                <a:latin typeface="Calibri"/>
              </a:rPr>
              <a:t>forkcast update --market новый_файл.xlsx</a:t>
            </a:r>
          </a:p>
          <a:p>
            <a:pPr algn="l"/>
            <a:r>
              <a:rPr sz="1800" b="0">
                <a:solidFill>
                  <a:srgbClr val="1C5CAB"/>
                </a:solidFill>
                <a:latin typeface="Calibri"/>
              </a:rPr>
              <a:t>forkcast fetch-macro</a:t>
            </a:r>
          </a:p>
          <a:p>
            <a:pPr algn="l"/>
            <a:r>
              <a:rPr sz="1800" b="0">
                <a:solidFill>
                  <a:srgbClr val="1C5CAB"/>
                </a:solidFill>
                <a:latin typeface="Calibri"/>
              </a:rPr>
              <a:t>forkcast run</a:t>
            </a:r>
          </a:p>
          <a:p>
            <a:pPr algn="l"/>
            <a:r>
              <a:rPr sz="1800" b="0">
                <a:solidFill>
                  <a:srgbClr val="1C5CAB"/>
                </a:solidFill>
                <a:latin typeface="Calibri"/>
              </a:rPr>
              <a:t>forkcast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6304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Новый квартал или сегмент распознаётся автоматически — без правки кода.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Сценарии и веса — в YAML-конфигурации, без программирования.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Выходы: Excel для планировщиков, HTML-отчёт, интерактивный дашборд, эта презентация.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Каждый прогноз архивируется; при поступлении факта считается его точность.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Фиксированный seed и манифест с хэшами данных — результат воспроизводим до знака.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